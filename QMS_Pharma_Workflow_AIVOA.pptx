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E2A5A"/>
          </a:solidFill>
          <a:ln w="12700">
            <a:solidFill>
              <a:srgbClr val="0E2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114800"/>
            <a:ext cx="1828800" cy="1828800"/>
          </a:xfrm>
          <a:prstGeom prst="ellipse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2286000"/>
            <a:ext cx="365760" cy="2743200"/>
          </a:xfrm>
          <a:prstGeom prst="rect">
            <a:avLst/>
          </a:prstGeom>
          <a:solidFill>
            <a:srgbClr val="008B8B">
              <a:alpha val="40000"/>
            </a:srgbClr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BBFA3"/>
                </a:solidFill>
              </a:rPr>
              <a:t>PHARMACEUTICAL QMS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Quality Management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System Workflows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8D8"/>
                </a:solidFill>
              </a:rPr>
              <a:t>A Real-World Walk-Through: Metformin HCl (API) → Glucophage® 500 mg Tablet (FDF)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743200" cy="36576"/>
          </a:xfrm>
          <a:prstGeom prst="rect">
            <a:avLst/>
          </a:prstGeom>
          <a:solidFill>
            <a:srgbClr val="3BBFA3"/>
          </a:solidFill>
          <a:ln w="12700">
            <a:solidFill>
              <a:srgbClr val="3BBF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CA7C0"/>
                </a:solidFill>
              </a:rPr>
              <a:t>Deviations  ·  CAPA  ·  Quality Checks  ·  Change Control  ·  Recalls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4114800"/>
            <a:ext cx="12344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4114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Deviation Mgmt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629400" y="4114800"/>
            <a:ext cx="12344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4114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CAPA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955280" y="4114800"/>
            <a:ext cx="12344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1148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QC Testing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03520" y="4480560"/>
            <a:ext cx="12344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Change Control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629400" y="4480560"/>
            <a:ext cx="1234440" cy="27432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 Recall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B7C"/>
                </a:solidFill>
              </a:rPr>
              <a:t>AIVOA.AI  |  Pharmaceutical &amp; Life Sciences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IS A QMS — AND WHY DOES IT MATTER?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64008" cy="356616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Quality Management System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A structured set of processes, procedures, and responsibilities that ensure pharmaceutical products meet regulatory and safety standards.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Mandated by FDA 21 CFR Part 211, ICH Q10, and EU GMP guidelines.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Covers the FULL product lifecycle—from raw material sourcing to patient delivery.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64008" cy="3566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Our Case Study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92040" y="1508760"/>
            <a:ext cx="3749040" cy="1143000"/>
          </a:xfrm>
          <a:prstGeom prst="rect">
            <a:avLst/>
          </a:prstGeom>
          <a:solidFill>
            <a:srgbClr val="EBF5FF"/>
          </a:solidFill>
          <a:ln w="12700">
            <a:solidFill>
              <a:srgbClr val="90CA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92040" y="1508760"/>
            <a:ext cx="1005840" cy="292608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API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Metformin Hydrochloride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176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Active Pharmaceutical Ingredient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Antidiabetic · biguanide class · widely manufactured globally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697480"/>
            <a:ext cx="0" cy="2286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↓  processed into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971800"/>
            <a:ext cx="3749040" cy="1143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92040" y="2971800"/>
            <a:ext cx="10058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9718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FDF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Glucophage® 500 mg Tablet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63931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Finished Dosage Form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Film-coated oral tablet · sold in 100+ countries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Regulatory Framework: FDA 21 CFR Part 211  |  EU GMP Annex 15  |  ICH Q10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QMS MODULE MAP — Key Systems in Daily Operations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0574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Deviation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Capture &amp; assess unexpected events during manufacturing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9144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914400"/>
            <a:ext cx="20574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42032" y="14173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Corrective &amp; Preventive Actions to eliminate root causes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81144" y="9144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914400"/>
            <a:ext cx="2057400" cy="4572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1144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2584" y="14173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Manage &amp; document approved changes to processes/materials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11696" y="9144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914400"/>
            <a:ext cx="20574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9144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Complaints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Recalls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03136" y="14173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Handle adverse events; initiate product recalls if needed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80744" y="27432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380744" y="2743200"/>
            <a:ext cx="205740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0744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QC Testing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Release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72184" y="3246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Analytical tests on API &amp; FDF batches before release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11296" y="27432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11296" y="2743200"/>
            <a:ext cx="20574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Control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02736" y="3246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Version-controlled SOPs, batch records, specifications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41848" y="2743200"/>
            <a:ext cx="205740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641848" y="2743200"/>
            <a:ext cx="2057400" cy="4572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41848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Supplier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Qualification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33288" y="3246120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Audit &amp; qualify API suppliers (e.g. Metformin HCl source)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0" y="2514600"/>
            <a:ext cx="4572000" cy="201168"/>
          </a:xfrm>
          <a:prstGeom prst="rect">
            <a:avLst/>
          </a:prstGeom>
          <a:solidFill>
            <a:srgbClr val="E2EEF4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4348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All modules feed into a centralised electronic Quality Record System (eQMS)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86000" y="2514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8B8B"/>
                </a:solidFill>
              </a:rPr>
              <a:t>Interconnected lifecycle coverage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▶  We will now trace a realistic scenario through four of these modules.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THE PRODUCT LIFECYCLE &amp; QMS TOUCHPOINTS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BFA3"/>
                </a:solidFill>
              </a:rPr>
              <a:t>Metformin HCl API → Glucophage® 500 mg Tablet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64592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008B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941832"/>
            <a:ext cx="402336" cy="402336"/>
          </a:xfrm>
          <a:prstGeom prst="ellipse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Supplier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Qualification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" y="1856232"/>
            <a:ext cx="1243584" cy="566928"/>
          </a:xfrm>
          <a:prstGeom prst="rect">
            <a:avLst/>
          </a:prstGeom>
          <a:solidFill>
            <a:srgbClr val="008B8B">
              <a:alpha val="25000"/>
            </a:srgbClr>
          </a:solidFill>
          <a:ln w="6350">
            <a:solidFill>
              <a:srgbClr val="008B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Supplier Audit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Qualification Report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563624" y="1828800"/>
            <a:ext cx="128016" cy="0"/>
          </a:xfrm>
          <a:prstGeom prst="line">
            <a:avLst/>
          </a:prstGeom>
          <a:noFill/>
          <a:ln w="19050">
            <a:solidFill>
              <a:srgbClr val="4A6B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9928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03704" y="9418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03704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783080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Receipt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Testing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83080" y="1856232"/>
            <a:ext cx="1243584" cy="566928"/>
          </a:xfrm>
          <a:prstGeom prst="rect">
            <a:avLst/>
          </a:prstGeom>
          <a:solidFill>
            <a:srgbClr val="7C3AED">
              <a:alpha val="2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CoA Review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QC Incoming Inspection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08960" y="1828800"/>
            <a:ext cx="128016" cy="0"/>
          </a:xfrm>
          <a:prstGeom prst="line">
            <a:avLst/>
          </a:prstGeom>
          <a:noFill/>
          <a:ln w="19050">
            <a:solidFill>
              <a:srgbClr val="4A6B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55264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9418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28416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Manufacturing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Blending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1856232"/>
            <a:ext cx="1243584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Batch Record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Deviation Capture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54296" y="1828800"/>
            <a:ext cx="128016" cy="0"/>
          </a:xfrm>
          <a:prstGeom prst="line">
            <a:avLst/>
          </a:prstGeom>
          <a:noFill/>
          <a:ln w="19050">
            <a:solidFill>
              <a:srgbClr val="4A6B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3BBF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94376" y="941832"/>
            <a:ext cx="402336" cy="402336"/>
          </a:xfrm>
          <a:prstGeom prst="ellipse">
            <a:avLst/>
          </a:prstGeom>
          <a:solidFill>
            <a:srgbClr val="3BBFA3"/>
          </a:solidFill>
          <a:ln w="12700">
            <a:solidFill>
              <a:srgbClr val="3BBF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94376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73752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Compression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73752" y="1856232"/>
            <a:ext cx="1243584" cy="566928"/>
          </a:xfrm>
          <a:prstGeom prst="rect">
            <a:avLst/>
          </a:prstGeom>
          <a:solidFill>
            <a:srgbClr val="3BBFA3">
              <a:alpha val="25000"/>
            </a:srgbClr>
          </a:solidFill>
          <a:ln w="6350">
            <a:solidFill>
              <a:srgbClr val="3BBF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In-Process Checks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Wt/Hardness/Thickness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99632" y="1828800"/>
            <a:ext cx="128016" cy="0"/>
          </a:xfrm>
          <a:prstGeom prst="line">
            <a:avLst/>
          </a:prstGeom>
          <a:noFill/>
          <a:ln w="19050">
            <a:solidFill>
              <a:srgbClr val="4A6B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39712" y="941832"/>
            <a:ext cx="402336" cy="40233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19088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QC Release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Testing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19088" y="1856232"/>
            <a:ext cx="1243584" cy="566928"/>
          </a:xfrm>
          <a:prstGeom prst="rect">
            <a:avLst/>
          </a:prstGeom>
          <a:solidFill>
            <a:srgbClr val="16A34A">
              <a:alpha val="25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HPLC Assay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Disso / Sterility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744968" y="1828800"/>
            <a:ext cx="128016" cy="0"/>
          </a:xfrm>
          <a:prstGeom prst="line">
            <a:avLst/>
          </a:prstGeom>
          <a:noFill/>
          <a:ln w="19050">
            <a:solidFill>
              <a:srgbClr val="4A6B7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891272" y="1143000"/>
            <a:ext cx="1389888" cy="1371600"/>
          </a:xfrm>
          <a:prstGeom prst="rect">
            <a:avLst/>
          </a:prstGeom>
          <a:solidFill>
            <a:srgbClr val="0E2348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85048" y="941832"/>
            <a:ext cx="402336" cy="40233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85048" y="941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64424" y="1188720"/>
            <a:ext cx="124358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Distribution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PV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964424" y="1856232"/>
            <a:ext cx="1243584" cy="566928"/>
          </a:xfrm>
          <a:prstGeom prst="rect">
            <a:avLst/>
          </a:prstGeom>
          <a:solidFill>
            <a:srgbClr val="DC2626">
              <a:alpha val="2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4424" y="1856232"/>
            <a:ext cx="12435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Complaints Handling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Recall Readiness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BA8C0"/>
                </a:solidFill>
              </a:rPr>
              <a:t>QMS ensures every stage is documented, tested, and traceable — from raw API to patient.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818888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BFA3"/>
                </a:solidFill>
              </a:rPr>
              <a:t>Next: Four detailed module scenarios →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MODULE 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Deviation Management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640080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⚠  REAL SCENARIO: During tablet compression of Glucophage® Batch GX-2024-117, the in-process check records a mean tablet weight of 498 mg — below the 500 ± 3 mg specification. The operator flags this immediately.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91640"/>
            <a:ext cx="64008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801368"/>
            <a:ext cx="329184" cy="329184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01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1746504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Detection &amp; Reporting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1248" y="1965960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Operator documents the weight OOS event in the Batch Manufacturing Record (BMR) and raises a Deviation Report in the eQMS within 1 hour.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313432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13432"/>
            <a:ext cx="64008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2316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23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236829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Initial Assessment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" y="2587752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QA reviews severity: Is this a 'minor', 'major', or 'critical' deviation? Tablet weight OOS = Major deviation. Batch GX-2024-117 is placed on hold.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935224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35224"/>
            <a:ext cx="64008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044952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44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29900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Root Cause Investigation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209544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Investigation team checks: Metformin HCl moisture content (API), blend uniformity, compression force settings, and die/punch wear.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557016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557016"/>
            <a:ext cx="64008" cy="54864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3666744"/>
            <a:ext cx="329184" cy="329184"/>
          </a:xfrm>
          <a:prstGeom prst="ellipse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666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36118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Impact Assessment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" y="3831336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Determine if adjacent batches (GX-2024-115, 116) are affected. Review API CoA from supplier for variability.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4178808"/>
            <a:ext cx="8595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4178808"/>
            <a:ext cx="64008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4288536"/>
            <a:ext cx="329184" cy="32918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88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41248" y="42336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Disposition Decision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1248" y="4453128"/>
            <a:ext cx="7909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Root cause found: worn punch → batch rejected; press repaired; CAPA initiated. Regulatory notification assessed per jurisdiction.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</a:rPr>
              <a:t>MODULE 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CAPA — Corrective &amp; Preventive Action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solidFill>
            <a:srgbClr val="F5F0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</a:rPr>
              <a:t>Triggered by the Deviation above (worn punch → weight OOS). CAPA-2024-042 is opened to prevent recurrence across all tablet compression lines.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64008" cy="3200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CORRECTIVE ACTIONS  (fix the known problem)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38528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Reject Batch GX-2024-117; quarantine &amp; destroy per SOP-DISP-003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Replace worn punch set on Compression Press #3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Verify adjacent batches GX-2024-115 &amp; 116 — release or reject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Regulatory disclosure to FDA if mandatory threshold met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605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08760"/>
            <a:ext cx="64008" cy="32004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57276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B8B"/>
                </a:solidFill>
              </a:rPr>
              <a:t>PREVENTIVE ACTIONS  (stop recurrence)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92040" y="1938528"/>
            <a:ext cx="38862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Revise Preventive Maintenance SOP: punch/die inspection every 500k units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Add automated in-process weight monitoring (PAT system) on all presses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Update supplier qualification: tighter Metformin moisture spec ≤ 0.3%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Train all compression operators on early OOS detection — re-qualification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</a:rPr>
              <a:t>Schedule 30-day CAPA effectiveness check with QA sign-off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CAPA must be closed with documented evidence before the next manufacturing campaign.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MODULE 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QC Testing &amp; Batch Release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4160520" cy="3931920"/>
          </a:xfrm>
          <a:prstGeom prst="rect">
            <a:avLst/>
          </a:prstGeom>
          <a:solidFill>
            <a:srgbClr val="EBF8FF"/>
          </a:solidFill>
          <a:ln w="12700">
            <a:solidFill>
              <a:srgbClr val="90CA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4160520" cy="45720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API INCOMING TESTS — Metformin HCl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4048" y="1435608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813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Identity (IR Spectroscopy)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852928" y="14813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Matches reference spectrum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58768" y="15179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58768" y="15179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84048" y="1892808"/>
            <a:ext cx="3931920" cy="393192"/>
          </a:xfrm>
          <a:prstGeom prst="rect">
            <a:avLst/>
          </a:prstGeom>
          <a:solidFill>
            <a:srgbClr val="F0F9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9385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Assay (HPLC)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852928" y="19385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≥ 99.0% on dried basis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58768" y="19751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19751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2350008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957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Related Substances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852928" y="23957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Total impurities ≤ 0.5%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858768" y="24323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24323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84048" y="2807208"/>
            <a:ext cx="3931920" cy="393192"/>
          </a:xfrm>
          <a:prstGeom prst="rect">
            <a:avLst/>
          </a:prstGeom>
          <a:solidFill>
            <a:srgbClr val="F0F9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8529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Residual Solvents (GC)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52928" y="28529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ICH Q3C limits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58768" y="28895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28895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84048" y="3264408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3101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Moisture Content (KF)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852928" y="33101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≤ 0.5%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58768" y="33467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3467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84048" y="3721608"/>
            <a:ext cx="3931920" cy="393192"/>
          </a:xfrm>
          <a:prstGeom prst="rect">
            <a:avLst/>
          </a:prstGeom>
          <a:solidFill>
            <a:srgbClr val="F0F9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7673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Particle Size (Laser diffraction)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852928" y="37673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D90 ≤ 150 µm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58768" y="38039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38039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84048" y="4178808"/>
            <a:ext cx="3931920" cy="393192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4224528"/>
            <a:ext cx="23774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B3E"/>
                </a:solidFill>
              </a:rPr>
              <a:t>Microbial Limits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852928" y="4224528"/>
            <a:ext cx="1371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TAMC ≤ 1000 CFU/g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58768" y="4261104"/>
            <a:ext cx="38404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58768" y="426110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868680"/>
            <a:ext cx="4160520" cy="3931920"/>
          </a:xfrm>
          <a:prstGeom prst="rect">
            <a:avLst/>
          </a:prstGeom>
          <a:solidFill>
            <a:srgbClr val="F0FF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868680"/>
            <a:ext cx="41605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868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FDF RELEASE TESTS — Glucophage® 500 mg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18888" y="1435608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0328" y="147218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Description (visual)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287768" y="147218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White oval film-coated tablet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229600" y="1490472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29600" y="14904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818888" y="1819656"/>
            <a:ext cx="3931920" cy="338328"/>
          </a:xfrm>
          <a:prstGeom prst="rect">
            <a:avLst/>
          </a:prstGeom>
          <a:solidFill>
            <a:srgbClr val="F0FFF4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0328" y="1856232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Identification (UV/HPLC)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287768" y="185623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Matches Metformin standard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229600" y="1874520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0" y="1874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18888" y="2203704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10328" y="2240280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Assay (HPLC)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287768" y="224028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95.0–105.0% of stated 500 mg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8229600" y="2258568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29600" y="225856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818888" y="2587752"/>
            <a:ext cx="3931920" cy="338328"/>
          </a:xfrm>
          <a:prstGeom prst="rect">
            <a:avLst/>
          </a:prstGeom>
          <a:solidFill>
            <a:srgbClr val="F0FFF4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910328" y="2624328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Dissolution (USP App II)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287768" y="2624328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≥ 80% in 30 min at pH 6.8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8229600" y="2642616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29600" y="264261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818888" y="2971800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10328" y="3008376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Content Uniformity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287768" y="3008376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RSD ≤ 6%, no unit &lt;75% or &gt;125%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229600" y="3026664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9600" y="302666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818888" y="3355848"/>
            <a:ext cx="3931920" cy="338328"/>
          </a:xfrm>
          <a:prstGeom prst="rect">
            <a:avLst/>
          </a:prstGeom>
          <a:solidFill>
            <a:srgbClr val="F0FFF4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10328" y="3392424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Hardness / Friability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287768" y="3392424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80–120 N / Friability ≤ 1%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8229600" y="3410712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229600" y="341071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818888" y="3739896"/>
            <a:ext cx="3931920" cy="338328"/>
          </a:xfrm>
          <a:prstGeom prst="rect">
            <a:avLst/>
          </a:prstGeom>
          <a:solidFill>
            <a:srgbClr val="FFFFFF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10328" y="3776472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Disintegration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287768" y="3776472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≤ 45 min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8229600" y="3794760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0" y="379476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18888" y="4123944"/>
            <a:ext cx="3931920" cy="338328"/>
          </a:xfrm>
          <a:prstGeom prst="rect">
            <a:avLst/>
          </a:prstGeom>
          <a:solidFill>
            <a:srgbClr val="F0FFF4"/>
          </a:solidFill>
          <a:ln w="381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910328" y="4160520"/>
            <a:ext cx="237744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D1B3E"/>
                </a:solidFill>
              </a:rPr>
              <a:t>Microbial Limits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287768" y="4160520"/>
            <a:ext cx="8229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TAMC ≤ 1000 CFU/g, yeast ≤ 100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229600" y="4178808"/>
            <a:ext cx="566928" cy="228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29600" y="417880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PASS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7A5A"/>
                </a:solidFill>
              </a:rPr>
              <a:t>All tests passing → QP (Qualified Person) signs the batch release record → Product released to distribution.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MODULE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280160" y="0"/>
            <a:ext cx="7498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Complaint Handling &amp; Product Recall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8595360" cy="548640"/>
          </a:xfrm>
          <a:prstGeom prst="rect">
            <a:avLst/>
          </a:prstGeom>
          <a:solidFill>
            <a:srgbClr val="FFF0F0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3E"/>
                </a:solidFill>
              </a:rPr>
              <a:t>⚠  NEW SCENARIO: 6 months post-release, 14 pharmacies report that Glucophage® 500 mg tablets are splitting in blister packs. Post-market surveillance flags this as a potential product quality complaint requiring recall assessment.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1664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166420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00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Complaint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Receipt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Pharmacies report via product surveillance hotline. All 14 reports logged in eQMS. Batch numbers recorded: GX-2024-118 to 122.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38528" y="3063240"/>
            <a:ext cx="64008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02536" y="1600200"/>
            <a:ext cx="1664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02536" y="1600200"/>
            <a:ext cx="166420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2536" y="1600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Initial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Investigation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93976" y="2075688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Recall coordinator pulls batch records, checks dissolution &amp; hardness data. QC confirms tablets below hardness spec in retained samples.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66744" y="3063240"/>
            <a:ext cx="64008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600200"/>
            <a:ext cx="1664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30752" y="1600200"/>
            <a:ext cx="1664208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1600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Recall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22192" y="2075688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Risk Assessment: hardness failure → tablets may fail to disintegrate → dosing issue. Decision: Class II Voluntary Recall (FDA classification).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94960" y="3063240"/>
            <a:ext cx="64008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58968" y="1600200"/>
            <a:ext cx="1664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58968" y="1600200"/>
            <a:ext cx="1664208" cy="41148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58968" y="1600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Notify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Retrieve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50408" y="2075688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Notify FDA within 3 days. Alert distribution chain (wholesalers → pharmacies). Issue Urgent Drug Recall notices. Collect returned stock.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123176" y="3063240"/>
            <a:ext cx="64008" cy="0"/>
          </a:xfrm>
          <a:prstGeom prst="line">
            <a:avLst/>
          </a:prstGeom>
          <a:noFill/>
          <a:ln w="12700">
            <a:solidFill>
              <a:srgbClr val="AABB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87184" y="1600200"/>
            <a:ext cx="1664208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87184" y="1600200"/>
            <a:ext cx="1664208" cy="4114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87184" y="1600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5. Effectiveness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78624" y="2075688"/>
            <a:ext cx="148132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Audit retrieval completeness: ≥ 90% recovery required. Initiate CAPA on hardness specification. Prepare regulatory submission.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Recall completeness must be verified. Root cause feeds back into CAPA and Change Control for permanent fix.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HOW THE QMS MODULES CONNECT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BBFA3"/>
                </a:solidFill>
              </a:rPr>
              <a:t>An event in one module automatically triggers action in others — this is what makes QMS a system, not just a checklist.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474720" y="1920240"/>
            <a:ext cx="2194560" cy="1005840"/>
          </a:xfrm>
          <a:prstGeom prst="ellipse">
            <a:avLst/>
          </a:prstGeom>
          <a:solidFill>
            <a:srgbClr val="008B8B"/>
          </a:solidFill>
          <a:ln w="25400">
            <a:solidFill>
              <a:srgbClr val="00AA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eQMS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645920" cy="73152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Deviation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Mgmt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03120" y="1645920"/>
            <a:ext cx="2468880" cy="77724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65760" y="3108960"/>
            <a:ext cx="1645920" cy="731520"/>
          </a:xfrm>
          <a:prstGeom prst="rect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03120" y="3200400"/>
            <a:ext cx="2468880" cy="-77724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474720" y="3840480"/>
            <a:ext cx="1645920" cy="73152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8404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Change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3474720"/>
            <a:ext cx="0" cy="-105156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583680" y="1005840"/>
            <a:ext cx="1645920" cy="73152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10058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QC Testing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1645920"/>
            <a:ext cx="-2011680" cy="77724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583680" y="3108960"/>
            <a:ext cx="1645920" cy="731520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3108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Recalls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83680" y="3200400"/>
            <a:ext cx="-2011680" cy="-77724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474720" y="822960"/>
            <a:ext cx="1645920" cy="731520"/>
          </a:xfrm>
          <a:prstGeom prst="rect">
            <a:avLst/>
          </a:prstGeom>
          <a:solidFill>
            <a:srgbClr val="475569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8229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Doc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Control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1463040"/>
            <a:ext cx="0" cy="960120"/>
          </a:xfrm>
          <a:prstGeom prst="line">
            <a:avLst/>
          </a:prstGeom>
          <a:noFill/>
          <a:ln w="12700">
            <a:solidFill>
              <a:srgbClr val="2A5080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BA8C0"/>
                </a:solidFill>
              </a:rPr>
              <a:t>When a Deviation is raised → CAPA is triggered → Change Control documents the fix → QC re-tests → Recall prevented.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E2A5A"/>
          </a:solidFill>
          <a:ln w="12700">
            <a:solidFill>
              <a:srgbClr val="0E2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4114800"/>
            <a:ext cx="1828800" cy="1828800"/>
          </a:xfrm>
          <a:prstGeom prst="ellipse">
            <a:avLst/>
          </a:prstGeom>
          <a:solidFill>
            <a:srgbClr val="0A2040"/>
          </a:solidFill>
          <a:ln w="12700">
            <a:solidFill>
              <a:srgbClr val="0A2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74320" y="2286000"/>
            <a:ext cx="365760" cy="2743200"/>
          </a:xfrm>
          <a:prstGeom prst="rect">
            <a:avLst/>
          </a:prstGeom>
          <a:solidFill>
            <a:srgbClr val="008B8B">
              <a:alpha val="40000"/>
            </a:srgbClr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BBFA3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QMS is the Backbone of Pharmaceutical Manufacturing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solidFill>
            <a:srgbClr val="0E2348"/>
          </a:solidFill>
          <a:ln w="10160">
            <a:solidFill>
              <a:srgbClr val="00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08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BFA3"/>
                </a:solidFill>
              </a:rPr>
              <a:t>Every batch is traceable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85623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D8"/>
                </a:solidFill>
              </a:rPr>
              <a:t>From the Metformin HCl Certificate of Analysis to the final Glucophage® tablet, the full chain of custody is documented in the QMS.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0E2348"/>
          </a:solidFill>
          <a:ln w="10160">
            <a:solidFill>
              <a:srgbClr val="00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3108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BFA3"/>
                </a:solidFill>
              </a:rPr>
              <a:t>Problems trigger automatic workflows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45643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D8"/>
                </a:solidFill>
              </a:rPr>
              <a:t>A tablet weight OOS automatically opens a Deviation → CAPA → Change Control sequence. Nothing falls through the cracks.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4114800" cy="1371600"/>
          </a:xfrm>
          <a:prstGeom prst="rect">
            <a:avLst/>
          </a:prstGeom>
          <a:solidFill>
            <a:srgbClr val="0E2348"/>
          </a:solidFill>
          <a:ln w="10160">
            <a:solidFill>
              <a:srgbClr val="00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1490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394960" y="1508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BFA3"/>
                </a:solidFill>
              </a:rPr>
              <a:t>Regulatory compliance is built-in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94960" y="185623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D8"/>
                </a:solidFill>
              </a:rPr>
              <a:t>All actions, approvals, and evidence are time-stamped and auditable for FDA inspections and EU GMP compliance.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4114800" cy="1371600"/>
          </a:xfrm>
          <a:prstGeom prst="rect">
            <a:avLst/>
          </a:prstGeom>
          <a:solidFill>
            <a:srgbClr val="0E2348"/>
          </a:solidFill>
          <a:ln w="10160">
            <a:solidFill>
              <a:srgbClr val="008B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090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31089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BFA3"/>
                </a:solidFill>
              </a:rPr>
              <a:t>Continuous improvement loop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94960" y="3456432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C8D8"/>
                </a:solidFill>
              </a:rPr>
              <a:t>CAPA effectiveness checks and Post-Market Surveillance feed back into manufacturing processes — the system learns.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8B8B"/>
          </a:solidFill>
          <a:ln w="12700">
            <a:solidFill>
              <a:srgbClr val="008B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AIVOA.AI builds intelligent software that digitises and automates exactly these QMS workflows — turning paper-based pharmaceutical processes into real-time, AI-powered quality operations.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Pharmaceutical QMS Workflows – Metformin to Glucophage</dc:title>
  <dc:subject>PptxGenJS Presentation</dc:subject>
  <dc:creator>AIVOA.AI</dc:creator>
  <cp:lastModifiedBy>AIVOA.AI</cp:lastModifiedBy>
  <cp:revision>1</cp:revision>
  <dcterms:created xsi:type="dcterms:W3CDTF">2026-05-22T02:50:21Z</dcterms:created>
  <dcterms:modified xsi:type="dcterms:W3CDTF">2026-05-22T02:50:21Z</dcterms:modified>
</cp:coreProperties>
</file>